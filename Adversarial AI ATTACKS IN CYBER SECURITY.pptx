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530" r:id="rId5"/>
    <p:sldId id="531" r:id="rId6"/>
    <p:sldId id="533" r:id="rId7"/>
    <p:sldId id="534" r:id="rId8"/>
    <p:sldId id="535" r:id="rId9"/>
    <p:sldId id="536" r:id="rId10"/>
    <p:sldId id="537" r:id="rId11"/>
    <p:sldId id="546" r:id="rId12"/>
    <p:sldId id="545" r:id="rId13"/>
    <p:sldId id="543" r:id="rId14"/>
    <p:sldId id="547" r:id="rId15"/>
    <p:sldId id="54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22"/>
  </p:normalViewPr>
  <p:slideViewPr>
    <p:cSldViewPr snapToGrid="0">
      <p:cViewPr>
        <p:scale>
          <a:sx n="46" d="100"/>
          <a:sy n="46" d="100"/>
        </p:scale>
        <p:origin x="144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rmAutofit/>
          </a:bodyPr>
          <a:lstStyle/>
          <a:p>
            <a:r>
              <a:rPr lang="en-US" sz="3400" dirty="0"/>
              <a:t>Adversarial AI ATTACKS IN CYBER SECURITY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CAC10E5-9651-1A20-392F-1CF370FA2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rmAutofit/>
          </a:bodyPr>
          <a:lstStyle/>
          <a:p>
            <a:r>
              <a:rPr lang="en-SG" sz="1900"/>
              <a:t>IT24100056-Krishnakumar.T</a:t>
            </a:r>
          </a:p>
          <a:p>
            <a:r>
              <a:rPr lang="en-SG" sz="1900"/>
              <a:t>Module Code: IE2092 – Introduction to Cyber Security</a:t>
            </a:r>
          </a:p>
          <a:p>
            <a:endParaRPr lang="en-SG" sz="1900"/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393192"/>
            <a:ext cx="8878824" cy="969264"/>
          </a:xfrm>
        </p:spPr>
        <p:txBody>
          <a:bodyPr>
            <a:normAutofit/>
          </a:bodyPr>
          <a:lstStyle/>
          <a:p>
            <a:r>
              <a:rPr lang="en-US" dirty="0"/>
              <a:t>Abstract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1537855"/>
            <a:ext cx="6422136" cy="3957689"/>
          </a:xfrm>
        </p:spPr>
        <p:txBody>
          <a:bodyPr/>
          <a:lstStyle/>
          <a:p>
            <a:pPr marL="342900" indent="-342900"/>
            <a:r>
              <a:rPr lang="en-US" dirty="0"/>
              <a:t>AI is widely used in cybersecurity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/>
            <a:r>
              <a:rPr lang="en-US" dirty="0"/>
              <a:t>Adversarial AI attacks target machine learning systems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/>
            <a:r>
              <a:rPr lang="en-US" dirty="0"/>
              <a:t>These attacks manipulate AI decision-making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/>
            <a:r>
              <a:rPr lang="en-US" dirty="0"/>
              <a:t>Growing threat to modern cybersecurity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/>
            <a:r>
              <a:rPr lang="en-US" dirty="0"/>
              <a:t>Report explores evolution, risks, and future developments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ADVERSARIAL AI ATTACKS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60D24F0-F67E-3E01-46DA-ACEC2F2852F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228088" y="3344019"/>
            <a:ext cx="725070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Artificial Intelligence in cybersecurity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Role of machine learning in threat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Increasing use of AI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New vulnerabilities introduced by AI </a:t>
            </a:r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11382"/>
            <a:ext cx="9144000" cy="1925782"/>
          </a:xfrm>
        </p:spPr>
        <p:txBody>
          <a:bodyPr/>
          <a:lstStyle/>
          <a:p>
            <a:r>
              <a:rPr lang="en-US" dirty="0"/>
              <a:t>What Are Adversarial AI Attacks?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FF0B8-5B51-7376-0271-8D849CA3F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429000"/>
            <a:ext cx="7068312" cy="280554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Definition of adversarial attacks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Attackers manipulate AI inputs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AI produces incorrect decisions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Small changes create major effects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FE8-2F9C-9C12-4EB3-9742EA91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Evolution of Adversarial AI</a:t>
            </a:r>
            <a:endParaRPr lang="en-US" sz="4000" b="1" spc="600" dirty="0">
              <a:ln w="28575">
                <a:noFill/>
                <a:prstDash val="solid"/>
              </a:ln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E318B-D756-6C57-8657-96C8363208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FFAFE5-7E76-A839-1872-05609C34A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Timeline:</a:t>
            </a:r>
          </a:p>
          <a:p>
            <a:r>
              <a:rPr lang="en-US" dirty="0"/>
              <a:t>1980s – Rule-based security systems</a:t>
            </a:r>
          </a:p>
          <a:p>
            <a:r>
              <a:rPr lang="en-US" dirty="0"/>
              <a:t>1990s – Intrusion detection systems</a:t>
            </a:r>
          </a:p>
          <a:p>
            <a:r>
              <a:rPr lang="en-US" dirty="0"/>
              <a:t>2000s – Machine learning adoption</a:t>
            </a:r>
          </a:p>
          <a:p>
            <a:r>
              <a:rPr lang="en-US" dirty="0"/>
              <a:t>2010s – Deep learning growth</a:t>
            </a:r>
          </a:p>
          <a:p>
            <a:r>
              <a:rPr lang="en-US" dirty="0"/>
              <a:t>Present – Adversarial AI research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72651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DEE9-2DBD-C997-C208-027230B5A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dirty="0"/>
              <a:t>Types of Adversarial AI Attacks</a:t>
            </a:r>
            <a:endParaRPr lang="en-US" sz="4000" b="1" spc="600" dirty="0">
              <a:ln w="28575">
                <a:noFill/>
                <a:prstDash val="solid"/>
              </a:ln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CF1F9-4847-1440-0352-6D1284A48D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34491D-AF3A-C879-49E6-F11A17AC30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533AF9-3780-9EBB-D874-F537B6B8B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SG" dirty="0"/>
              <a:t>  Evasion Attacks</a:t>
            </a:r>
          </a:p>
          <a:p>
            <a:pPr marL="457200" indent="-457200"/>
            <a:r>
              <a:rPr lang="en-SG" dirty="0"/>
              <a:t>  Poisoning Attacks</a:t>
            </a:r>
          </a:p>
          <a:p>
            <a:pPr marL="457200" indent="-457200"/>
            <a:r>
              <a:rPr lang="en-SG" dirty="0"/>
              <a:t>  Model Stealing</a:t>
            </a:r>
          </a:p>
          <a:p>
            <a:pPr marL="457200" indent="-457200"/>
            <a:r>
              <a:rPr lang="en-SG" dirty="0"/>
              <a:t>  Membership Inference</a:t>
            </a:r>
          </a:p>
          <a:p>
            <a:pPr marL="457200" indent="-457200"/>
            <a:r>
              <a:rPr lang="en-SG" dirty="0"/>
              <a:t>  Trojan/Backdoor Attacks</a:t>
            </a:r>
          </a:p>
        </p:txBody>
      </p:sp>
    </p:spTree>
    <p:extLst>
      <p:ext uri="{BB962C8B-B14F-4D97-AF65-F5344CB8AC3E}">
        <p14:creationId xmlns:p14="http://schemas.microsoft.com/office/powerpoint/2010/main" val="1208724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F090D-C862-CF85-1001-A82E5436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>
            <a:normAutofit/>
          </a:bodyPr>
          <a:lstStyle/>
          <a:p>
            <a:r>
              <a:rPr lang="en-SG" sz="3400"/>
              <a:t>Real-World Examples</a:t>
            </a:r>
            <a:br>
              <a:rPr lang="en-US" sz="3400"/>
            </a:br>
            <a:endParaRPr lang="en-US" sz="3400"/>
          </a:p>
        </p:txBody>
      </p:sp>
      <p:sp>
        <p:nvSpPr>
          <p:cNvPr id="60" name="Footer Placeholder 2">
            <a:extLst>
              <a:ext uri="{FF2B5EF4-FFF2-40B4-BE49-F238E27FC236}">
                <a16:creationId xmlns:a16="http://schemas.microsoft.com/office/drawing/2014/main" id="{72247436-DE98-DE33-EFBA-41A709A88A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66344" y="6190488"/>
            <a:ext cx="2331720" cy="27432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Crypto: investing &amp; trading</a:t>
            </a:r>
          </a:p>
        </p:txBody>
      </p:sp>
      <p:sp>
        <p:nvSpPr>
          <p:cNvPr id="61" name="Slide Number Placeholder 3">
            <a:extLst>
              <a:ext uri="{FF2B5EF4-FFF2-40B4-BE49-F238E27FC236}">
                <a16:creationId xmlns:a16="http://schemas.microsoft.com/office/drawing/2014/main" id="{CCA7BFF3-DC23-97F4-88FD-2EE4EC83F5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9184" y="411480"/>
            <a:ext cx="521208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6316ECC5-AE38-B3CC-1938-44CB9A4767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/>
          <a:lstStyle/>
          <a:p>
            <a:r>
              <a:rPr lang="en-SG" sz="1600" dirty="0"/>
              <a:t>Self-driving vehicle manipulation</a:t>
            </a:r>
            <a:endParaRPr lang="en-US" sz="1600" dirty="0"/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D6AA528B-46A1-5EFC-9066-8397142DCB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66160" y="4599432"/>
            <a:ext cx="1335024" cy="740664"/>
          </a:xfrm>
        </p:spPr>
        <p:txBody>
          <a:bodyPr/>
          <a:lstStyle/>
          <a:p>
            <a:r>
              <a:rPr lang="en-SG" sz="1600" dirty="0"/>
              <a:t>Facial recognition bypass</a:t>
            </a:r>
            <a:endParaRPr lang="en-US" sz="1600" dirty="0"/>
          </a:p>
        </p:txBody>
      </p:sp>
      <p:sp>
        <p:nvSpPr>
          <p:cNvPr id="66" name="Text Placeholder 9">
            <a:extLst>
              <a:ext uri="{FF2B5EF4-FFF2-40B4-BE49-F238E27FC236}">
                <a16:creationId xmlns:a16="http://schemas.microsoft.com/office/drawing/2014/main" id="{368BB356-575C-06AD-83FD-19481F95F7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/>
          <a:lstStyle/>
          <a:p>
            <a:r>
              <a:rPr lang="en-SG" sz="1600" dirty="0"/>
              <a:t>Malware detection evasion</a:t>
            </a:r>
            <a:endParaRPr lang="en-US" sz="1600" dirty="0"/>
          </a:p>
        </p:txBody>
      </p:sp>
      <p:sp>
        <p:nvSpPr>
          <p:cNvPr id="68" name="Text Placeholder 11">
            <a:extLst>
              <a:ext uri="{FF2B5EF4-FFF2-40B4-BE49-F238E27FC236}">
                <a16:creationId xmlns:a16="http://schemas.microsoft.com/office/drawing/2014/main" id="{26B49B55-BFB1-A383-12AD-64C8B136D98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/>
          <a:lstStyle/>
          <a:p>
            <a:r>
              <a:rPr lang="en-SG" sz="1600" dirty="0"/>
              <a:t>Spam filter bypass</a:t>
            </a:r>
            <a:endParaRPr lang="en-US" sz="1600" dirty="0"/>
          </a:p>
        </p:txBody>
      </p:sp>
      <p:pic>
        <p:nvPicPr>
          <p:cNvPr id="13" name="Picture Placeholder 12" descr="Covid-19 with solid fill">
            <a:extLst>
              <a:ext uri="{FF2B5EF4-FFF2-40B4-BE49-F238E27FC236}">
                <a16:creationId xmlns:a16="http://schemas.microsoft.com/office/drawing/2014/main" id="{9A575599-1B07-DD97-618F-DB0A0DB1D016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5707190" y="3023413"/>
            <a:ext cx="925565" cy="925565"/>
          </a:xfrm>
        </p:spPr>
      </p:pic>
      <p:pic>
        <p:nvPicPr>
          <p:cNvPr id="17" name="Picture Placeholder 16" descr="No sign with solid fill">
            <a:extLst>
              <a:ext uri="{FF2B5EF4-FFF2-40B4-BE49-F238E27FC236}">
                <a16:creationId xmlns:a16="http://schemas.microsoft.com/office/drawing/2014/main" id="{08C5AFE6-A62C-D9E5-644A-F6EC5014CFB5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28" b="128"/>
          <a:stretch>
            <a:fillRect/>
          </a:stretch>
        </p:blipFill>
        <p:spPr>
          <a:xfrm>
            <a:off x="7872984" y="2967398"/>
            <a:ext cx="925565" cy="923203"/>
          </a:xfr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4C44EC9-F730-00B6-E479-530EC276D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805116" y="3129039"/>
            <a:ext cx="621791" cy="385932"/>
            <a:chOff x="4779792" y="2384561"/>
            <a:chExt cx="3365480" cy="2088878"/>
          </a:xfrm>
          <a:solidFill>
            <a:schemeClr val="accent6">
              <a:alpha val="50231"/>
            </a:schemeClr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8B6D2F8E-4F98-B89F-E4FB-DD9F900821E1}"/>
                </a:ext>
              </a:extLst>
            </p:cNvPr>
            <p:cNvSpPr/>
            <p:nvPr/>
          </p:nvSpPr>
          <p:spPr>
            <a:xfrm flipH="1">
              <a:off x="6582137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9EBD7AD-ED91-CC5F-0110-3EE43A60F946}"/>
                </a:ext>
              </a:extLst>
            </p:cNvPr>
            <p:cNvSpPr/>
            <p:nvPr/>
          </p:nvSpPr>
          <p:spPr>
            <a:xfrm flipH="1">
              <a:off x="4779792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6B0BED4-B4D2-A8C2-9E8E-FA7D1819E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648146" y="3136884"/>
            <a:ext cx="621791" cy="385932"/>
            <a:chOff x="4779792" y="2384561"/>
            <a:chExt cx="3365480" cy="2088878"/>
          </a:xfrm>
          <a:solidFill>
            <a:schemeClr val="accent1">
              <a:alpha val="48174"/>
            </a:schemeClr>
          </a:solidFill>
        </p:grpSpPr>
        <p:sp>
          <p:nvSpPr>
            <p:cNvPr id="8" name="Freeform 1">
              <a:extLst>
                <a:ext uri="{FF2B5EF4-FFF2-40B4-BE49-F238E27FC236}">
                  <a16:creationId xmlns:a16="http://schemas.microsoft.com/office/drawing/2014/main" id="{B542C6FD-B908-03BB-DE9D-1E76EE849265}"/>
                </a:ext>
              </a:extLst>
            </p:cNvPr>
            <p:cNvSpPr/>
            <p:nvPr/>
          </p:nvSpPr>
          <p:spPr>
            <a:xfrm flipH="1">
              <a:off x="6582137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 21">
              <a:extLst>
                <a:ext uri="{FF2B5EF4-FFF2-40B4-BE49-F238E27FC236}">
                  <a16:creationId xmlns:a16="http://schemas.microsoft.com/office/drawing/2014/main" id="{594F7F18-2B8D-7493-904B-1BD252DFC677}"/>
                </a:ext>
              </a:extLst>
            </p:cNvPr>
            <p:cNvSpPr/>
            <p:nvPr/>
          </p:nvSpPr>
          <p:spPr>
            <a:xfrm flipH="1">
              <a:off x="4779792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3210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3E31E-F298-485B-42BF-303CC635241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SG" sz="2400" dirty="0"/>
              <a:t>High computational cost</a:t>
            </a:r>
            <a:endParaRPr lang="en-US" sz="2400" dirty="0"/>
          </a:p>
        </p:txBody>
      </p:sp>
      <p:sp>
        <p:nvSpPr>
          <p:cNvPr id="69" name="Title 68">
            <a:extLst>
              <a:ext uri="{FF2B5EF4-FFF2-40B4-BE49-F238E27FC236}">
                <a16:creationId xmlns:a16="http://schemas.microsoft.com/office/drawing/2014/main" id="{0B07383B-6310-56A6-B051-F4B962E1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Challenges of Adversarial AI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004B5D-BB88-E446-FDC1-8BE748EFE8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SG" sz="2400" dirty="0"/>
              <a:t>Difficult to detect</a:t>
            </a:r>
            <a:endParaRPr lang="en-US" sz="24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7D9B67F-AD02-4BA5-209B-C91070303A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</p:spPr>
        <p:txBody>
          <a:bodyPr/>
          <a:lstStyle/>
          <a:p>
            <a:r>
              <a:rPr lang="en-SG" sz="2400" dirty="0"/>
              <a:t>Complex machine learning models</a:t>
            </a:r>
            <a:endParaRPr lang="en-US" sz="2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039B280-D4F1-D5B7-9D62-C1DA10C605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SG" sz="2400" dirty="0"/>
              <a:t>Data poisoning risks</a:t>
            </a:r>
            <a:endParaRPr lang="en-US" sz="24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9544CE-BE3D-F6DD-FADE-D85F729A9B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SG" sz="2400" dirty="0"/>
              <a:t>Privacy concerns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30138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05">
            <a:extLst>
              <a:ext uri="{FF2B5EF4-FFF2-40B4-BE49-F238E27FC236}">
                <a16:creationId xmlns:a16="http://schemas.microsoft.com/office/drawing/2014/main" id="{734F8B63-0C1D-770B-CA9D-EE7ACF817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Future Developments</a:t>
            </a:r>
            <a:endParaRPr lang="en-US" dirty="0"/>
          </a:p>
        </p:txBody>
      </p:sp>
      <p:sp>
        <p:nvSpPr>
          <p:cNvPr id="139" name="Slide Number Placeholder 138">
            <a:extLst>
              <a:ext uri="{FF2B5EF4-FFF2-40B4-BE49-F238E27FC236}">
                <a16:creationId xmlns:a16="http://schemas.microsoft.com/office/drawing/2014/main" id="{0C6CCCC3-BCC9-AE9B-C2AE-4D9986B5F8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4EECB-47E7-26A0-F3A1-ACAE7AEE57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Step 1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4BBDF45D-9B32-0154-7602-2C43DAF6C0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SG" sz="1800" dirty="0"/>
              <a:t>Explainable AI (XAI)</a:t>
            </a:r>
            <a:endParaRPr lang="en-US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F0535-53EA-30FB-770D-0C92BEEF3F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US" dirty="0"/>
              <a:t>Step 2</a:t>
            </a:r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38FF6C9F-C7C5-37D5-4C61-BA14A636B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SG" sz="1600" dirty="0"/>
              <a:t>Robust AI </a:t>
            </a:r>
            <a:r>
              <a:rPr lang="en-SG" sz="1600" dirty="0" err="1"/>
              <a:t>defense</a:t>
            </a:r>
            <a:r>
              <a:rPr lang="en-SG" sz="1600" dirty="0"/>
              <a:t> systems</a:t>
            </a:r>
            <a:endParaRPr lang="en-US" sz="16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511481-29C6-275B-963E-B5AF2E87AD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lang="en-US" dirty="0"/>
              <a:t>Step 3</a:t>
            </a: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5973BD56-1612-983E-EA67-F4039B0620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SG" sz="1600" dirty="0"/>
              <a:t>AI governance and regulations</a:t>
            </a:r>
            <a:endParaRPr lang="en-US" sz="16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32973A-CF94-1C2B-BB12-B563173CC79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en-US" dirty="0"/>
              <a:t>Step 4</a:t>
            </a:r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840CFADA-CAD6-2A04-5B15-5DB4DD6A84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SG" sz="1600" dirty="0"/>
              <a:t>Federated learning security</a:t>
            </a:r>
            <a:endParaRPr lang="en-US" sz="16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E7AA813-84F0-DB50-F6B6-A29A94662D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lvl="0"/>
            <a:r>
              <a:rPr lang="en-US" dirty="0"/>
              <a:t>Step 5</a:t>
            </a: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DB3347BB-2913-A230-8362-2B778394E7C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lvl="0"/>
            <a:r>
              <a:rPr lang="en-SG" sz="1600" dirty="0"/>
              <a:t>Automated AI testing</a:t>
            </a:r>
            <a:endParaRPr lang="en-US" sz="1600" dirty="0"/>
          </a:p>
        </p:txBody>
      </p:sp>
      <p:pic>
        <p:nvPicPr>
          <p:cNvPr id="85" name="Picture Placeholder 84" descr="Continuous Improvement outline">
            <a:extLst>
              <a:ext uri="{FF2B5EF4-FFF2-40B4-BE49-F238E27FC236}">
                <a16:creationId xmlns:a16="http://schemas.microsoft.com/office/drawing/2014/main" id="{D65F5CE9-1D9A-9BF0-5ADD-C4E2693DA4CB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/>
          <a:srcRect t="517" b="517"/>
          <a:stretch/>
        </p:blipFill>
        <p:spPr>
          <a:xfrm>
            <a:off x="1583555" y="2980517"/>
            <a:ext cx="713074" cy="713074"/>
          </a:xfrm>
        </p:spPr>
      </p:pic>
      <p:pic>
        <p:nvPicPr>
          <p:cNvPr id="86" name="Picture Placeholder 85" descr="Wallet outline">
            <a:extLst>
              <a:ext uri="{FF2B5EF4-FFF2-40B4-BE49-F238E27FC236}">
                <a16:creationId xmlns:a16="http://schemas.microsoft.com/office/drawing/2014/main" id="{EDC60F06-D73E-F719-14FA-A6F1ECF09300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3"/>
          <a:srcRect t="128" b="128"/>
          <a:stretch/>
        </p:blipFill>
        <p:spPr/>
      </p:pic>
      <p:pic>
        <p:nvPicPr>
          <p:cNvPr id="87" name="Picture Placeholder 86" descr="Piggy Bank outline">
            <a:extLst>
              <a:ext uri="{FF2B5EF4-FFF2-40B4-BE49-F238E27FC236}">
                <a16:creationId xmlns:a16="http://schemas.microsoft.com/office/drawing/2014/main" id="{ED53247D-56A2-6AB9-6FF9-0313BD7DB9E8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4"/>
          <a:srcRect/>
          <a:stretch/>
        </p:blipFill>
        <p:spPr/>
      </p:pic>
      <p:pic>
        <p:nvPicPr>
          <p:cNvPr id="88" name="Picture Placeholder 87" descr="Bitcoin outline">
            <a:extLst>
              <a:ext uri="{FF2B5EF4-FFF2-40B4-BE49-F238E27FC236}">
                <a16:creationId xmlns:a16="http://schemas.microsoft.com/office/drawing/2014/main" id="{32BC0F61-A0C8-5BEF-A6E9-0E7ADE645FA6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 rotWithShape="1">
          <a:blip r:embed="rId5"/>
          <a:srcRect l="345" r="345"/>
          <a:stretch/>
        </p:blipFill>
        <p:spPr/>
      </p:pic>
      <p:pic>
        <p:nvPicPr>
          <p:cNvPr id="90" name="Picture Placeholder 89" descr="Exponential Graph outline">
            <a:extLst>
              <a:ext uri="{FF2B5EF4-FFF2-40B4-BE49-F238E27FC236}">
                <a16:creationId xmlns:a16="http://schemas.microsoft.com/office/drawing/2014/main" id="{86472D92-CAA9-AF6F-549B-2EE170C70DD7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 rotWithShape="1">
          <a:blip r:embed="rId6"/>
          <a:srcRect/>
          <a:stretch/>
        </p:blipFill>
        <p:spPr/>
      </p:pic>
      <p:sp>
        <p:nvSpPr>
          <p:cNvPr id="133" name="Text Placeholder 132">
            <a:extLst>
              <a:ext uri="{FF2B5EF4-FFF2-40B4-BE49-F238E27FC236}">
                <a16:creationId xmlns:a16="http://schemas.microsoft.com/office/drawing/2014/main" id="{0D7DF893-CDC1-A213-86BF-C9C73F979CC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4" name="Text Placeholder 133">
            <a:extLst>
              <a:ext uri="{FF2B5EF4-FFF2-40B4-BE49-F238E27FC236}">
                <a16:creationId xmlns:a16="http://schemas.microsoft.com/office/drawing/2014/main" id="{9CE100CE-4574-F901-234D-B9BEED642B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5" name="Text Placeholder 134">
            <a:extLst>
              <a:ext uri="{FF2B5EF4-FFF2-40B4-BE49-F238E27FC236}">
                <a16:creationId xmlns:a16="http://schemas.microsoft.com/office/drawing/2014/main" id="{288EBDBE-0ABC-82CE-4598-09F65E315A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6" name="Text Placeholder 135">
            <a:extLst>
              <a:ext uri="{FF2B5EF4-FFF2-40B4-BE49-F238E27FC236}">
                <a16:creationId xmlns:a16="http://schemas.microsoft.com/office/drawing/2014/main" id="{14F6CD04-2A18-A6BD-AAB9-1D30D156339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7" name="Text Placeholder 136">
            <a:extLst>
              <a:ext uri="{FF2B5EF4-FFF2-40B4-BE49-F238E27FC236}">
                <a16:creationId xmlns:a16="http://schemas.microsoft.com/office/drawing/2014/main" id="{C171CBDB-4593-F4D1-30E9-A47F4C7CADA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130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5BC92-868A-26B2-CBC0-C9D94E65F1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Conclusion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C1627-7A56-025E-482D-E2AB014ED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749040"/>
            <a:ext cx="7735824" cy="1792778"/>
          </a:xfrm>
        </p:spPr>
        <p:txBody>
          <a:bodyPr/>
          <a:lstStyle/>
          <a:p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.</a:t>
            </a:r>
            <a:r>
              <a:rPr lang="en-SG" dirty="0"/>
              <a:t> AI improves cybersecurity</a:t>
            </a:r>
          </a:p>
          <a:p>
            <a:r>
              <a:rPr lang="en-US" dirty="0"/>
              <a:t>Adversarial attacks create new risks</a:t>
            </a:r>
          </a:p>
          <a:p>
            <a:r>
              <a:rPr lang="en-SG" dirty="0"/>
              <a:t>AI security must improve</a:t>
            </a:r>
          </a:p>
          <a:p>
            <a:r>
              <a:rPr lang="en-SG" dirty="0"/>
              <a:t>Future depends on secure AI models</a:t>
            </a:r>
            <a:endParaRPr lang="en-US" sz="1800" dirty="0">
              <a:solidFill>
                <a:schemeClr val="bg1"/>
              </a:solidFill>
              <a:latin typeface="Segoe UI Light" panose="020B0502040204020203" pitchFamily="34" charset="0"/>
              <a:ea typeface="+mn-lt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759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8C6C-1079-BDFE-B1B1-5CA192EBC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665018"/>
            <a:ext cx="7735824" cy="1537855"/>
          </a:xfrm>
        </p:spPr>
        <p:txBody>
          <a:bodyPr/>
          <a:lstStyle/>
          <a:p>
            <a:r>
              <a:rPr lang="en-SG" dirty="0"/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E0F3B-8504-5446-ED06-496AB3FB5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2064327"/>
            <a:ext cx="7735824" cy="4572000"/>
          </a:xfrm>
        </p:spPr>
        <p:txBody>
          <a:bodyPr/>
          <a:lstStyle/>
          <a:p>
            <a:endParaRPr lang="en-SG" dirty="0"/>
          </a:p>
          <a:p>
            <a:r>
              <a:rPr lang="en-SG" dirty="0"/>
              <a:t>[1] I. Goodfellow, J. Shlens, and C. Szegedy, “Explaining and Harnessing Adversarial Examples,” International Conference on Learning Representations, 2015.</a:t>
            </a:r>
          </a:p>
          <a:p>
            <a:r>
              <a:rPr lang="en-SG" dirty="0"/>
              <a:t>[2] N. </a:t>
            </a:r>
            <a:r>
              <a:rPr lang="en-SG" dirty="0" err="1"/>
              <a:t>Papernot</a:t>
            </a:r>
            <a:r>
              <a:rPr lang="en-SG" dirty="0"/>
              <a:t>, P. McDaniel, A. Sinha, and M. Wellman, “Towards the Science of Security and Privacy in Machine Learning,” IEEE European Symposium on Security and Privacy, 2018.</a:t>
            </a:r>
          </a:p>
          <a:p>
            <a:r>
              <a:rPr lang="en-SG" dirty="0"/>
              <a:t>[3] B. Biggio and F. Roli, “Wild Patterns: Ten Years After the Rise of Adversarial Machine Learning,” Pattern Recognition, vol. 84, pp. 317–331, 2018.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09732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AB1132-4307-7DE9-A476-437E77306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rmAutofit/>
          </a:bodyPr>
          <a:lstStyle/>
          <a:p>
            <a:r>
              <a:rPr lang="en-SG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368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Segoe UI Light</vt:lpstr>
      <vt:lpstr>Tw Cen MT</vt:lpstr>
      <vt:lpstr>Office Theme</vt:lpstr>
      <vt:lpstr>Adversarial AI ATTACKS IN CYBER SECURITY</vt:lpstr>
      <vt:lpstr>Abstract </vt:lpstr>
      <vt:lpstr>INTRODUCTION TO ADVERSARIAL AI ATTACKS</vt:lpstr>
      <vt:lpstr>What Are Adversarial AI Attacks?</vt:lpstr>
      <vt:lpstr>Evolution of Adversarial AI</vt:lpstr>
      <vt:lpstr>Types of Adversarial AI Attacks</vt:lpstr>
      <vt:lpstr>Real-World Examples </vt:lpstr>
      <vt:lpstr>Challenges of Adversarial AI</vt:lpstr>
      <vt:lpstr>Future Developments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Krishnakumar T IT24100056</dc:creator>
  <cp:lastModifiedBy>Krishnakumar T IT24100056</cp:lastModifiedBy>
  <cp:revision>1</cp:revision>
  <dcterms:created xsi:type="dcterms:W3CDTF">2026-04-27T07:18:15Z</dcterms:created>
  <dcterms:modified xsi:type="dcterms:W3CDTF">2026-04-27T08:06:28Z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